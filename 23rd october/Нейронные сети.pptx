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1" r:id="rId2"/>
    <p:sldId id="257" r:id="rId3"/>
    <p:sldId id="283" r:id="rId4"/>
    <p:sldId id="315" r:id="rId5"/>
    <p:sldId id="282" r:id="rId6"/>
    <p:sldId id="309" r:id="rId7"/>
    <p:sldId id="296" r:id="rId8"/>
    <p:sldId id="298" r:id="rId9"/>
    <p:sldId id="304" r:id="rId10"/>
    <p:sldId id="305" r:id="rId11"/>
    <p:sldId id="306" r:id="rId12"/>
    <p:sldId id="307" r:id="rId13"/>
    <p:sldId id="310" r:id="rId14"/>
    <p:sldId id="313" r:id="rId15"/>
    <p:sldId id="314" r:id="rId16"/>
    <p:sldId id="311" r:id="rId17"/>
    <p:sldId id="312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pos="72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047"/>
    <a:srgbClr val="0B2B41"/>
    <a:srgbClr val="114263"/>
    <a:srgbClr val="401918"/>
    <a:srgbClr val="731F1C"/>
    <a:srgbClr val="AB678E"/>
    <a:srgbClr val="B2606E"/>
    <a:srgbClr val="CA929B"/>
    <a:srgbClr val="248CD2"/>
    <a:srgbClr val="C88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9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64"/>
        <p:guide pos="408"/>
        <p:guide orient="horz" pos="432"/>
        <p:guide pos="72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 snapToGrid="0">
      <p:cViewPr varScale="1">
        <p:scale>
          <a:sx n="80" d="100"/>
          <a:sy n="80" d="100"/>
        </p:scale>
        <p:origin x="315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3D1D01A-5516-4E1C-9A6D-D9EF8C203F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087A2D-9F8F-45E9-B127-C2407E7953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02B3BB-515A-4E79-9D2C-9D0E484059D5}" type="datetime1">
              <a:rPr lang="ru-RU" smtClean="0"/>
              <a:t>23.10.2025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515058-9F03-4AC5-A723-3D23E27720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6E583C-77B5-479A-A9CA-17DC816BC6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3D57C9-54A6-4BAA-A5CD-C535F9370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36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D57CA5-621E-47D5-935F-99BD60813745}" type="datetime1">
              <a:rPr lang="ru-RU" noProof="0" smtClean="0"/>
              <a:t>23.10.2025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F82289-BCFD-4053-9D06-A9140C63A45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9475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34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277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29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F299-CD01-5968-6EBD-AFB4898D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C27531B-9D56-A079-1B0C-EA3CFE1F3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DA9290E-2D21-CA78-ADB9-CC93E5E75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BE68C0-2AC1-270F-EE4E-28B184936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87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763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187F-A1B4-B348-B77B-7D1B6511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F5F92C-3EF6-D51F-F529-5D6E2EB3F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AC92F22-9865-FABD-30F9-287260673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E65CE7-E388-1D70-2DEB-5A47E1D1C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16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8A4B3-6907-B956-A108-743D3B4E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FE073F-0E97-46D6-E9F3-339996C7C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8FA54C-635C-5152-4E3E-049EEB4F6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FD1BDE-026C-750C-35F6-55829026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45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4877-5CDF-0F60-7506-7381D687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08F39A4-6201-2122-6A1E-4F61FE314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0699B9A-A4C6-7916-8CC2-E2CBEF65C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A71721-85DD-7C6A-3670-CA91BE7BD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755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0B1F-B830-B008-8A9E-B6E98B41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9A8495-4F46-4566-207F-37C056870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6637CE-23BD-90CA-E5F6-7286E8454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E9B494-47EE-D3A9-0212-002BEAB69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201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CC6A-27D3-0556-E3FD-E66C71E8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C3AA21-BF06-02A7-9080-88BD4AFA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AFF41B-8F68-D4F5-1380-4257DA5FC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2C8A6C-6BC0-F872-CDB3-BE6951371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280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D5FF-83D0-542E-82E5-848717D8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9E6BDF-6965-7F73-271A-B17975C61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AFA012-3845-569B-D011-FB3522785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F9204F-3DE5-DD46-41E1-D02D6E3B3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651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E6FD0-B06D-9D1E-8987-0A187194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1AD876-8858-A0DA-3AE4-4D7521A4C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148A69-5ADD-4CD7-DFC6-607334F50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319FF4-E81D-410D-A550-5E33091F0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676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E7E5-8796-4EE7-D869-DBA60C35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4222D22-C77D-29D5-E263-7565B2D4C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2B38F2-BE21-6E95-939E-6DE60E8E9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321491-DA63-9161-8D39-49230DF50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182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E402-6871-FB71-2EB0-4E515170C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0C0976-F1D2-8485-7B02-AA74F3089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C01555-5418-4F96-96D4-0BFED77A8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651CB4-D8A3-FBDB-087F-FB988F816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F82289-BCFD-4053-9D06-A9140C63A45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65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6676569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6676568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420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5512953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504688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7085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47CEAAF6-CCA9-40F8-8A3D-FAAD92220D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20" y="2404234"/>
            <a:ext cx="5330038" cy="1746504"/>
          </a:xfrm>
        </p:spPr>
        <p:txBody>
          <a:bodyPr vert="horz" lIns="0" tIns="45720" rIns="0" bIns="45720" rtlCol="0" anchor="b" anchorCtr="1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marL="0"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3180" y="4553291"/>
            <a:ext cx="5049510" cy="521208"/>
          </a:xfrm>
        </p:spPr>
        <p:txBody>
          <a:bodyPr vert="horz" lIns="0" tIns="0" rIns="0" bIns="0" rtlCol="0" anchor="t" anchorCtr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7717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AAF32A0B-D38A-4E4A-BD5E-94B67129650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rtlCol="0" anchor="ctr" anchorCtr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D3B46-48AB-439D-A981-D3596F97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288" y="2313432"/>
            <a:ext cx="6592824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0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28D712-0D13-4ECD-9BEB-B8EE651FF6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90288" y="5193792"/>
            <a:ext cx="6592824" cy="97840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341130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объект_2 (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7" name="Объект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8" name="Номер слайда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7204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объект_3 (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8842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00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7" name="Объект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3242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DEF523FD-B1FC-40A7-93AA-389CB38E1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985" y="2717803"/>
            <a:ext cx="23774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Объект 15">
            <a:extLst>
              <a:ext uri="{FF2B5EF4-FFF2-40B4-BE49-F238E27FC236}">
                <a16:creationId xmlns:a16="http://schemas.microsoft.com/office/drawing/2014/main" id="{B60C8CC8-C869-4395-B389-D76DF4A56AA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4385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1" name="Номер слайда 7">
            <a:extLst>
              <a:ext uri="{FF2B5EF4-FFF2-40B4-BE49-F238E27FC236}">
                <a16:creationId xmlns:a16="http://schemas.microsoft.com/office/drawing/2014/main" id="{E10AF5F6-7B7D-4CE6-A1D0-2F46804D3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5480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объект_2 (вертикальный 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1847927"/>
            <a:ext cx="7315200" cy="146161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2304413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1" name="Текст 12">
            <a:extLst>
              <a:ext uri="{FF2B5EF4-FFF2-40B4-BE49-F238E27FC236}">
                <a16:creationId xmlns:a16="http://schemas.microsoft.com/office/drawing/2014/main" id="{C3BB8EAB-4266-4938-A8CB-6D18C93801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9750" y="4048520"/>
            <a:ext cx="7315200" cy="146161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2" name="Объект 15">
            <a:extLst>
              <a:ext uri="{FF2B5EF4-FFF2-40B4-BE49-F238E27FC236}">
                <a16:creationId xmlns:a16="http://schemas.microsoft.com/office/drawing/2014/main" id="{716D363C-A0A5-4FB1-8CC2-850C0CD9F4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7700" y="4505006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15" name="Номер слайда 7">
            <a:extLst>
              <a:ext uri="{FF2B5EF4-FFF2-40B4-BE49-F238E27FC236}">
                <a16:creationId xmlns:a16="http://schemas.microsoft.com/office/drawing/2014/main" id="{AAF4A39B-C3C3-4691-BB94-371047ADD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4719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объект_1 (столбец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2100" y="1733627"/>
            <a:ext cx="2438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2062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00F546D-5491-4A19-9725-5C920C573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1597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2100" y="1733627"/>
            <a:ext cx="8534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rtl="0">
              <a:lnSpc>
                <a:spcPct val="100000"/>
              </a:lnSpc>
              <a:spcBef>
                <a:spcPct val="0"/>
              </a:spcBef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0AC1958-0DCB-4970-ADE3-E64DAAFC501D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E71A8D8-5A28-4968-9E80-110E9CB88F92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239C02C-1FAD-4E73-AB32-5A30A946A44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FF40D550-A563-4E50-AEE9-6D9D19499F9F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5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0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ажных_изображения (текст 0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ru-RU" noProof="0"/>
              <a:t>Добавить изображение</a:t>
            </a:r>
          </a:p>
        </p:txBody>
      </p:sp>
      <p:sp>
        <p:nvSpPr>
          <p:cNvPr id="20" name="Номер слайда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91417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F3686C7-DF83-47D9-A485-35F4F1D36A69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790B36CF-9391-49E9-B599-8B724B6EF267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468CE156-5D60-42B0-A4F9-33FA8553780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5" name="Номер слайда 7">
            <a:extLst>
              <a:ext uri="{FF2B5EF4-FFF2-40B4-BE49-F238E27FC236}">
                <a16:creationId xmlns:a16="http://schemas.microsoft.com/office/drawing/2014/main" id="{9E4521A1-4C9D-4795-B551-D151E8856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40370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ru-RU" noProof="0"/>
              <a:t>Добавить изображение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75C086E-F523-4C77-938F-0DB6203DBC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1080" y="2139696"/>
            <a:ext cx="5578995" cy="879928"/>
          </a:xfrm>
        </p:spPr>
        <p:txBody>
          <a:bodyPr vert="horz" lIns="91440" tIns="45720" rIns="91440" bIns="45720" rtlCol="0" anchor="ctr" anchorCtr="0">
            <a:noAutofit/>
          </a:bodyPr>
          <a:lstStyle>
            <a:lvl1pPr algn="l">
              <a:defRPr lang="en-GB" b="0" dirty="0">
                <a:solidFill>
                  <a:schemeClr val="bg1"/>
                </a:solidFill>
              </a:defRPr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293AB9F-7C1D-4A06-9F42-4FD67BF27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9075" y="3653097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224AF9FB-5C6E-4050-AE8D-3B218C0F1D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9075" y="4392151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Телефон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8A48B85-2E0B-42B6-AB4A-1302D3C828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9075" y="5131205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Эл. почта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9244D33F-3A47-4DE3-8198-7AC5316E31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59075" y="5870258"/>
            <a:ext cx="3695206" cy="276999"/>
          </a:xfrm>
        </p:spPr>
        <p:txBody>
          <a:bodyPr lIns="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Веб-сайт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220C8B-2E18-4D91-A806-6C7C3940B00F}"/>
              </a:ext>
            </a:extLst>
          </p:cNvPr>
          <p:cNvSpPr>
            <a:spLocks noGrp="1" noChangeAspect="1"/>
          </p:cNvSpPr>
          <p:nvPr>
            <p:ph sz="quarter" idx="19" hasCustomPrompt="1"/>
          </p:nvPr>
        </p:nvSpPr>
        <p:spPr>
          <a:xfrm>
            <a:off x="691080" y="4295744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3D1C5933-D103-4989-B652-C7B692341BC3}"/>
              </a:ext>
            </a:extLst>
          </p:cNvPr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691080" y="5034798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A80EBF65-A9A1-4724-B962-DB9B79A924AA}"/>
              </a:ext>
            </a:extLst>
          </p:cNvPr>
          <p:cNvSpPr>
            <a:spLocks noGrp="1" noChangeAspect="1"/>
          </p:cNvSpPr>
          <p:nvPr>
            <p:ph sz="quarter" idx="21" hasCustomPrompt="1"/>
          </p:nvPr>
        </p:nvSpPr>
        <p:spPr>
          <a:xfrm>
            <a:off x="691080" y="5773851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06251342-E6E3-4C57-A0A9-C7BB3DCAE115}"/>
              </a:ext>
            </a:extLst>
          </p:cNvPr>
          <p:cNvSpPr>
            <a:spLocks noGrp="1" noChangeAspect="1"/>
          </p:cNvSpPr>
          <p:nvPr>
            <p:ph sz="quarter" idx="22" hasCustomPrompt="1"/>
          </p:nvPr>
        </p:nvSpPr>
        <p:spPr>
          <a:xfrm>
            <a:off x="691080" y="3556690"/>
            <a:ext cx="469813" cy="469812"/>
          </a:xfrm>
          <a:prstGeom prst="ellipse">
            <a:avLst/>
          </a:prstGeom>
          <a:noFill/>
          <a:ln>
            <a:noFill/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ru-RU" noProof="0"/>
              <a:t>Значок</a:t>
            </a:r>
          </a:p>
        </p:txBody>
      </p:sp>
    </p:spTree>
    <p:extLst>
      <p:ext uri="{BB962C8B-B14F-4D97-AF65-F5344CB8AC3E}">
        <p14:creationId xmlns:p14="http://schemas.microsoft.com/office/powerpoint/2010/main" val="416935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5BE10AC4-CBFC-4ECF-92D5-9CE1874F58D7}"/>
              </a:ext>
            </a:extLst>
          </p:cNvPr>
          <p:cNvSpPr/>
          <p:nvPr userDrawn="1"/>
        </p:nvSpPr>
        <p:spPr>
          <a:xfrm>
            <a:off x="0" y="0"/>
            <a:ext cx="8568965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66734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4334810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73491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C7BBA6D3-FEB9-412B-8FBB-095FC3A60A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3186" y="1825625"/>
            <a:ext cx="10815864" cy="4351338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1002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4A4F74B-B2CD-407C-865A-037EDFAC9DB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3186" y="1825625"/>
            <a:ext cx="5386614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A2548E2E-973A-4D52-ACB9-BF564F4073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27685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051069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0CD1AD0-C8B7-4785-A47D-D822CF4F24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3186" y="1681163"/>
            <a:ext cx="533214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A1BBCF-EEF1-4C9A-BA10-9657A79560D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27685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79F8415A-57A2-4D5C-97B0-E78499CC7C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186" y="2505075"/>
            <a:ext cx="5332147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2" name="Объект 5">
            <a:extLst>
              <a:ext uri="{FF2B5EF4-FFF2-40B4-BE49-F238E27FC236}">
                <a16:creationId xmlns:a16="http://schemas.microsoft.com/office/drawing/2014/main" id="{37A31490-A10D-455A-B515-E26064D0E10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27685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49070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9F5DF135-B773-4FF0-A198-68776815912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4D4BA48E-457A-42FA-BC00-3AE386B38A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265862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3DF8AE6-3466-400C-B6F1-335DF4DE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6986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ru-RU" sz="1200" noProof="0">
              <a:solidFill>
                <a:schemeClr val="bg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3EA16B2-FFAE-4A6E-977D-191BC1DB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436B2E80-B2B9-4309-8C9B-11D0B83C43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03DB89DF-F372-4E54-9DFD-D53E42A2B8E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429434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0F2147C-DDBF-4431-95AC-650CCE32F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tx1"/>
                </a:solidFill>
              </a:defRPr>
            </a:lvl1pPr>
          </a:lstStyle>
          <a:p>
            <a:pPr algn="ctr" rtl="0"/>
            <a:fld id="{817179DE-9BF3-494C-804F-0C7C90AC8700}" type="slidenum">
              <a:rPr lang="ru-RU" noProof="0" smtClean="0"/>
              <a:pPr algn="ctr"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C3681-351A-40D9-8C08-632E982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7CEF16-92A3-4A77-B95D-A9DB5231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967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  <p:sldLayoutId id="2147483669" r:id="rId11"/>
    <p:sldLayoutId id="2147483655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человек, удержание, палец, рука&#10;&#10;Автоматически созданное описание">
            <a:extLst>
              <a:ext uri="{FF2B5EF4-FFF2-40B4-BE49-F238E27FC236}">
                <a16:creationId xmlns:a16="http://schemas.microsoft.com/office/drawing/2014/main" id="{45EF8658-555E-AE0B-BA25-119AB6FE253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7546" r="17546"/>
          <a:stretch>
            <a:fillRect/>
          </a:stretch>
        </p:blipFill>
        <p:spPr/>
      </p:pic>
      <p:sp>
        <p:nvSpPr>
          <p:cNvPr id="2" name="Заголовок 1" descr="заголовок">
            <a:extLst>
              <a:ext uri="{FF2B5EF4-FFF2-40B4-BE49-F238E27FC236}">
                <a16:creationId xmlns:a16="http://schemas.microsoft.com/office/drawing/2014/main" id="{28BAA8DA-C40B-4AB9-9407-30FB70335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4144" y="1291772"/>
            <a:ext cx="4379976" cy="2137228"/>
          </a:xfrm>
        </p:spPr>
        <p:txBody>
          <a:bodyPr rtlCol="0"/>
          <a:lstStyle/>
          <a:p>
            <a:pPr rtl="0"/>
            <a:r>
              <a:rPr lang="ru-RU" dirty="0"/>
              <a:t>Нейронные</a:t>
            </a:r>
            <a:br>
              <a:rPr lang="ru-RU" dirty="0"/>
            </a:br>
            <a:r>
              <a:rPr lang="ru-RU" dirty="0"/>
              <a:t>сети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B664AAE-5AE9-41D7-8346-002B9F445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740" y="0"/>
            <a:ext cx="6208649" cy="6858000"/>
            <a:chOff x="-3740" y="0"/>
            <a:chExt cx="6208649" cy="6858000"/>
          </a:xfrm>
        </p:grpSpPr>
        <p:sp>
          <p:nvSpPr>
            <p:cNvPr id="11" name="Полилиния: Фигура 10">
              <a:extLst>
                <a:ext uri="{FF2B5EF4-FFF2-40B4-BE49-F238E27FC236}">
                  <a16:creationId xmlns:a16="http://schemas.microsoft.com/office/drawing/2014/main" id="{927C3783-B800-4093-BB0D-D5AEF08C3B59}"/>
                </a:ext>
              </a:extLst>
            </p:cNvPr>
            <p:cNvSpPr/>
            <p:nvPr/>
          </p:nvSpPr>
          <p:spPr>
            <a:xfrm>
              <a:off x="-3740" y="0"/>
              <a:ext cx="6208649" cy="6858000"/>
            </a:xfrm>
            <a:custGeom>
              <a:avLst/>
              <a:gdLst>
                <a:gd name="connsiteX0" fmla="*/ 0 w 6208649"/>
                <a:gd name="connsiteY0" fmla="*/ 0 h 6858000"/>
                <a:gd name="connsiteX1" fmla="*/ 6208649 w 6208649"/>
                <a:gd name="connsiteY1" fmla="*/ 0 h 6858000"/>
                <a:gd name="connsiteX2" fmla="*/ 2737815 w 6208649"/>
                <a:gd name="connsiteY2" fmla="*/ 6858000 h 6858000"/>
                <a:gd name="connsiteX3" fmla="*/ 0 w 620864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649" h="6858000">
                  <a:moveTo>
                    <a:pt x="0" y="0"/>
                  </a:moveTo>
                  <a:lnTo>
                    <a:pt x="6208649" y="0"/>
                  </a:lnTo>
                  <a:lnTo>
                    <a:pt x="27378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576E978-A841-4A4F-B153-CC369D9391D3}"/>
                </a:ext>
              </a:extLst>
            </p:cNvPr>
            <p:cNvSpPr/>
            <p:nvPr/>
          </p:nvSpPr>
          <p:spPr>
            <a:xfrm>
              <a:off x="1451429" y="0"/>
              <a:ext cx="3222172" cy="6858000"/>
            </a:xfrm>
            <a:prstGeom prst="rect">
              <a:avLst/>
            </a:prstGeom>
            <a:solidFill>
              <a:schemeClr val="accent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9AE6E16-AFD9-AD5A-98B2-B9DDC50438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556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шаблон, ткань, свет&#10;&#10;Автоматически созданное описание">
            <a:extLst>
              <a:ext uri="{FF2B5EF4-FFF2-40B4-BE49-F238E27FC236}">
                <a16:creationId xmlns:a16="http://schemas.microsoft.com/office/drawing/2014/main" id="{40F9D18B-BE98-DC07-4C5B-F40DB87542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2577" r="32577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B025618-C830-4992-9CD3-D9E49BC79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4" name="Заголовок 3" descr="Название">
            <a:extLst>
              <a:ext uri="{FF2B5EF4-FFF2-40B4-BE49-F238E27FC236}">
                <a16:creationId xmlns:a16="http://schemas.microsoft.com/office/drawing/2014/main" id="{DFF36EE7-AE57-42F4-ACA9-A328C1F4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71522"/>
            <a:ext cx="6891564" cy="612621"/>
          </a:xfrm>
        </p:spPr>
        <p:txBody>
          <a:bodyPr rtlCol="0"/>
          <a:lstStyle/>
          <a:p>
            <a:pPr rtl="0"/>
            <a:r>
              <a:rPr lang="ru-RU" sz="2800" dirty="0"/>
              <a:t>Нейронная</a:t>
            </a:r>
            <a:r>
              <a:rPr lang="ru-RU" dirty="0"/>
              <a:t> сеть </a:t>
            </a:r>
          </a:p>
        </p:txBody>
      </p:sp>
      <p:sp>
        <p:nvSpPr>
          <p:cNvPr id="23" name="Текст 22" descr="блок контента 1">
            <a:extLst>
              <a:ext uri="{FF2B5EF4-FFF2-40B4-BE49-F238E27FC236}">
                <a16:creationId xmlns:a16="http://schemas.microsoft.com/office/drawing/2014/main" id="{B88939B0-5B9A-4423-AFD1-CF6B22268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448" y="1909891"/>
            <a:ext cx="5902882" cy="2535979"/>
          </a:xfrm>
        </p:spPr>
        <p:txBody>
          <a:bodyPr rtlCol="0"/>
          <a:lstStyle/>
          <a:p>
            <a:pPr rtl="0"/>
            <a:r>
              <a:rPr lang="ru-RU" sz="2000" b="1" dirty="0"/>
              <a:t>Нейронная сеть </a:t>
            </a:r>
            <a:r>
              <a:rPr lang="ru-RU" sz="2000" dirty="0"/>
              <a:t>– компьютерная система, которая пытается имитировать работу человеческого мозга. </a:t>
            </a:r>
          </a:p>
          <a:p>
            <a:pPr rtl="0"/>
            <a:r>
              <a:rPr lang="ru-RU" sz="2000" dirty="0"/>
              <a:t>Они состоят из множества нейронов, которые соединены между собой для передачи информации. Эти системы обычно используют для обработки любого рода информации, например, для распознавания образов, классификации данных, прогнозирования.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62BC4D-BD7A-417E-A34A-59CE4D4A6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652937FB-CDE3-46B3-8481-AB5DB8C4B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44" name="Номер слайда 5" descr="Номер слайда">
            <a:extLst>
              <a:ext uri="{FF2B5EF4-FFF2-40B4-BE49-F238E27FC236}">
                <a16:creationId xmlns:a16="http://schemas.microsoft.com/office/drawing/2014/main" id="{11457662-C1A5-4B93-8E30-88025E27C4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2</a:t>
            </a:fld>
            <a:endParaRPr lang="ru-RU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12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 descr="Изображение выглядит как шаблон, ткань, свет&#10;&#10;Автоматически созданное описание">
            <a:extLst>
              <a:ext uri="{FF2B5EF4-FFF2-40B4-BE49-F238E27FC236}">
                <a16:creationId xmlns:a16="http://schemas.microsoft.com/office/drawing/2014/main" id="{C87588D4-6BCF-5A4C-A119-EC7FDEB8A9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2577" r="32577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B025618-C830-4992-9CD3-D9E49BC79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11E692D4-6AEA-4652-A7AE-A02328258A55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A134AA32-2418-4A09-9BA8-ED7207AC0D7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0051AD99-BC4A-487F-BE1C-486FC5B8E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23" name="Текст 22" descr="блок контента 1">
            <a:extLst>
              <a:ext uri="{FF2B5EF4-FFF2-40B4-BE49-F238E27FC236}">
                <a16:creationId xmlns:a16="http://schemas.microsoft.com/office/drawing/2014/main" id="{B88939B0-5B9A-4423-AFD1-CF6B22268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700" y="1241141"/>
            <a:ext cx="7513237" cy="2126299"/>
          </a:xfrm>
        </p:spPr>
        <p:txBody>
          <a:bodyPr rtlCol="0"/>
          <a:lstStyle/>
          <a:p>
            <a:pPr rtl="0"/>
            <a:r>
              <a:rPr lang="ru-RU" sz="2000" b="1" dirty="0"/>
              <a:t>Нейрон </a:t>
            </a:r>
            <a:r>
              <a:rPr lang="ru-RU" sz="2000" dirty="0"/>
              <a:t>— это вычислительная единица, которая получает информацию, производит над ней простые вычисления и передает ее дальше. </a:t>
            </a:r>
          </a:p>
          <a:p>
            <a:pPr rtl="0"/>
            <a:r>
              <a:rPr lang="ru-RU" sz="2000" dirty="0"/>
              <a:t>В том случае, когда нейросеть состоит из большого количества нейронов, вводят термин слоя. Есть </a:t>
            </a:r>
            <a:r>
              <a:rPr lang="ru-RU" sz="2000" b="1" dirty="0"/>
              <a:t>входной</a:t>
            </a:r>
            <a:r>
              <a:rPr lang="ru-RU" sz="2000" dirty="0"/>
              <a:t> слой, который получает информацию, n </a:t>
            </a:r>
            <a:r>
              <a:rPr lang="ru-RU" sz="2000" b="1" dirty="0"/>
              <a:t>скрытых</a:t>
            </a:r>
            <a:r>
              <a:rPr lang="ru-RU" sz="2000" dirty="0"/>
              <a:t> слоев, которые ее обрабатывают и </a:t>
            </a:r>
            <a:r>
              <a:rPr lang="ru-RU" sz="2000" b="1" dirty="0"/>
              <a:t>выходной</a:t>
            </a:r>
            <a:r>
              <a:rPr lang="ru-RU" sz="2000" dirty="0"/>
              <a:t> слой, который выводит результат. 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62BC4D-BD7A-417E-A34A-59CE4D4A6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652937FB-CDE3-46B3-8481-AB5DB8C4B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79161314-0A22-4109-A2B1-41E87EFE1E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3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C2227A30-BAD2-3FF4-3B44-A8E804AC2899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/>
              <a:t>Нейронная</a:t>
            </a:r>
            <a:r>
              <a:rPr lang="ru-RU" dirty="0"/>
              <a:t> </a:t>
            </a:r>
            <a:r>
              <a:rPr lang="ru-RU" sz="2800" dirty="0"/>
              <a:t>сеть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0F817D-0F28-5DB9-340D-284EB9B1A8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54" y="3546302"/>
            <a:ext cx="4342229" cy="2442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882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E2AAA-5982-498F-3853-A752EC73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 descr="Изображение выглядит как шаблон, ткань, свет&#10;&#10;Автоматически созданное описание">
            <a:extLst>
              <a:ext uri="{FF2B5EF4-FFF2-40B4-BE49-F238E27FC236}">
                <a16:creationId xmlns:a16="http://schemas.microsoft.com/office/drawing/2014/main" id="{A03DBD97-01EB-BC4B-C4F4-547EEF1378D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2577" r="32577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27755E3-8307-50E8-3C71-1D6C06B7B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8AB56928-8D4F-4EA8-A37E-5865E87A009D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23E70A18-850F-6089-4335-C76F17C0F30C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C744081A-9E2D-67D0-341F-C2EB52F94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23" name="Текст 22" descr="блок контента 1">
            <a:extLst>
              <a:ext uri="{FF2B5EF4-FFF2-40B4-BE49-F238E27FC236}">
                <a16:creationId xmlns:a16="http://schemas.microsoft.com/office/drawing/2014/main" id="{86AC2FE1-108A-6DCF-77D3-6F12A889A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347" y="2231923"/>
            <a:ext cx="7513237" cy="2730418"/>
          </a:xfrm>
        </p:spPr>
        <p:txBody>
          <a:bodyPr rtlCol="0"/>
          <a:lstStyle/>
          <a:p>
            <a:pPr rtl="0"/>
            <a:r>
              <a:rPr lang="ru-RU" sz="2000" dirty="0"/>
              <a:t>У каждого из нейронов есть 2 основных параметра: входные данные (</a:t>
            </a:r>
            <a:r>
              <a:rPr lang="ru-RU" sz="2000" dirty="0" err="1"/>
              <a:t>input</a:t>
            </a:r>
            <a:r>
              <a:rPr lang="ru-RU" sz="2000" dirty="0"/>
              <a:t> </a:t>
            </a:r>
            <a:r>
              <a:rPr lang="ru-RU" sz="2000" dirty="0" err="1"/>
              <a:t>data</a:t>
            </a:r>
            <a:r>
              <a:rPr lang="ru-RU" sz="2000" dirty="0"/>
              <a:t>) и выходные данные (</a:t>
            </a:r>
            <a:r>
              <a:rPr lang="ru-RU" sz="2000" dirty="0" err="1"/>
              <a:t>output</a:t>
            </a:r>
            <a:r>
              <a:rPr lang="ru-RU" sz="2000" dirty="0"/>
              <a:t> </a:t>
            </a:r>
            <a:r>
              <a:rPr lang="ru-RU" sz="2000" dirty="0" err="1"/>
              <a:t>data</a:t>
            </a:r>
            <a:r>
              <a:rPr lang="ru-RU" sz="2000" dirty="0"/>
              <a:t>). В случае входного нейрона: </a:t>
            </a:r>
            <a:r>
              <a:rPr lang="ru-RU" sz="2000" dirty="0" err="1"/>
              <a:t>input</a:t>
            </a:r>
            <a:r>
              <a:rPr lang="ru-RU" sz="2000" dirty="0"/>
              <a:t>=</a:t>
            </a:r>
            <a:r>
              <a:rPr lang="ru-RU" sz="2000" dirty="0" err="1"/>
              <a:t>output</a:t>
            </a:r>
            <a:r>
              <a:rPr lang="ru-RU" sz="2000" dirty="0"/>
              <a:t>. </a:t>
            </a:r>
          </a:p>
          <a:p>
            <a:pPr rtl="0"/>
            <a:r>
              <a:rPr lang="ru-RU" sz="2000" dirty="0"/>
              <a:t>В остальных, в поле </a:t>
            </a:r>
            <a:r>
              <a:rPr lang="ru-RU" sz="2000" dirty="0" err="1"/>
              <a:t>input</a:t>
            </a:r>
            <a:r>
              <a:rPr lang="ru-RU" sz="2000" dirty="0"/>
              <a:t> попадает суммарная информация всех нейронов с предыдущего слоя, после чего, она нормализуется, с помощью функции активации (f(x)) и попадает в поле </a:t>
            </a:r>
            <a:r>
              <a:rPr lang="ru-RU" sz="2000" dirty="0" err="1"/>
              <a:t>output</a:t>
            </a:r>
            <a:r>
              <a:rPr lang="ru-RU" sz="2000" dirty="0"/>
              <a:t>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A87100-2E98-122B-0526-8FD940BA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7FDAF5C7-FD55-63B0-401D-F4002B221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EDA35DCF-EE65-E7CA-D30A-E18EF121FE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4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8CE59B0F-01AF-7454-30C3-CB282CFBD159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/>
              <a:t>Нейронная</a:t>
            </a:r>
            <a:r>
              <a:rPr lang="ru-RU"/>
              <a:t> сеть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155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Книги на полке">
            <a:extLst>
              <a:ext uri="{FF2B5EF4-FFF2-40B4-BE49-F238E27FC236}">
                <a16:creationId xmlns:a16="http://schemas.microsoft.com/office/drawing/2014/main" id="{0BCD2159-BE65-43D5-9E0A-9EB4B1B2F8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8C94A8D-A234-408C-8281-33CCC01B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4750604" cy="6858000"/>
            <a:chOff x="0" y="0"/>
            <a:chExt cx="4750604" cy="6858000"/>
          </a:xfrm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01887690-2EDF-4913-A835-4503B0E36442}"/>
                </a:ext>
              </a:extLst>
            </p:cNvPr>
            <p:cNvSpPr/>
            <p:nvPr/>
          </p:nvSpPr>
          <p:spPr>
            <a:xfrm>
              <a:off x="0" y="0"/>
              <a:ext cx="4750604" cy="6858000"/>
            </a:xfrm>
            <a:custGeom>
              <a:avLst/>
              <a:gdLst>
                <a:gd name="connsiteX0" fmla="*/ 0 w 4750604"/>
                <a:gd name="connsiteY0" fmla="*/ 0 h 6858000"/>
                <a:gd name="connsiteX1" fmla="*/ 4750604 w 4750604"/>
                <a:gd name="connsiteY1" fmla="*/ 0 h 6858000"/>
                <a:gd name="connsiteX2" fmla="*/ 3101407 w 4750604"/>
                <a:gd name="connsiteY2" fmla="*/ 6858000 h 6858000"/>
                <a:gd name="connsiteX3" fmla="*/ 0 w 4750604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50604" h="6858000">
                  <a:moveTo>
                    <a:pt x="0" y="0"/>
                  </a:moveTo>
                  <a:lnTo>
                    <a:pt x="4750604" y="0"/>
                  </a:lnTo>
                  <a:lnTo>
                    <a:pt x="310140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D1E7D22-630D-4E19-8BE6-9C21E4A652BD}"/>
                </a:ext>
              </a:extLst>
            </p:cNvPr>
            <p:cNvSpPr/>
            <p:nvPr/>
          </p:nvSpPr>
          <p:spPr>
            <a:xfrm>
              <a:off x="1" y="0"/>
              <a:ext cx="3946799" cy="6858000"/>
            </a:xfrm>
            <a:custGeom>
              <a:avLst/>
              <a:gdLst>
                <a:gd name="connsiteX0" fmla="*/ 0 w 3946799"/>
                <a:gd name="connsiteY0" fmla="*/ 0 h 6858000"/>
                <a:gd name="connsiteX1" fmla="*/ 3946799 w 3946799"/>
                <a:gd name="connsiteY1" fmla="*/ 0 h 6858000"/>
                <a:gd name="connsiteX2" fmla="*/ 2297602 w 3946799"/>
                <a:gd name="connsiteY2" fmla="*/ 6858000 h 6858000"/>
                <a:gd name="connsiteX3" fmla="*/ 0 w 394679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46799" h="6858000">
                  <a:moveTo>
                    <a:pt x="0" y="0"/>
                  </a:moveTo>
                  <a:lnTo>
                    <a:pt x="3946799" y="0"/>
                  </a:lnTo>
                  <a:lnTo>
                    <a:pt x="229760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318BD405-EEE9-4A08-8DA2-A70AFCF1D240}"/>
                </a:ext>
              </a:extLst>
            </p:cNvPr>
            <p:cNvSpPr/>
            <p:nvPr/>
          </p:nvSpPr>
          <p:spPr>
            <a:xfrm>
              <a:off x="0" y="0"/>
              <a:ext cx="3723822" cy="6858000"/>
            </a:xfrm>
            <a:custGeom>
              <a:avLst/>
              <a:gdLst>
                <a:gd name="connsiteX0" fmla="*/ 0 w 3723822"/>
                <a:gd name="connsiteY0" fmla="*/ 0 h 6858000"/>
                <a:gd name="connsiteX1" fmla="*/ 3723822 w 3723822"/>
                <a:gd name="connsiteY1" fmla="*/ 0 h 6858000"/>
                <a:gd name="connsiteX2" fmla="*/ 2074625 w 3723822"/>
                <a:gd name="connsiteY2" fmla="*/ 6858000 h 6858000"/>
                <a:gd name="connsiteX3" fmla="*/ 0 w 372382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3822" h="6858000">
                  <a:moveTo>
                    <a:pt x="0" y="0"/>
                  </a:moveTo>
                  <a:lnTo>
                    <a:pt x="3723822" y="0"/>
                  </a:lnTo>
                  <a:lnTo>
                    <a:pt x="207462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9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7D4A6826-2C0D-4C79-A871-DF31737EE4F7}"/>
                </a:ext>
              </a:extLst>
            </p:cNvPr>
            <p:cNvSpPr/>
            <p:nvPr/>
          </p:nvSpPr>
          <p:spPr>
            <a:xfrm>
              <a:off x="0" y="0"/>
              <a:ext cx="3374007" cy="6858000"/>
            </a:xfrm>
            <a:custGeom>
              <a:avLst/>
              <a:gdLst>
                <a:gd name="connsiteX0" fmla="*/ 0 w 3374007"/>
                <a:gd name="connsiteY0" fmla="*/ 0 h 6858000"/>
                <a:gd name="connsiteX1" fmla="*/ 3374007 w 3374007"/>
                <a:gd name="connsiteY1" fmla="*/ 0 h 6858000"/>
                <a:gd name="connsiteX2" fmla="*/ 1659507 w 3374007"/>
                <a:gd name="connsiteY2" fmla="*/ 6858000 h 6858000"/>
                <a:gd name="connsiteX3" fmla="*/ 0 w 337400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4007" h="6858000">
                  <a:moveTo>
                    <a:pt x="0" y="0"/>
                  </a:moveTo>
                  <a:lnTo>
                    <a:pt x="3374007" y="0"/>
                  </a:lnTo>
                  <a:lnTo>
                    <a:pt x="165950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30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34" name="Заголовок 33" descr="заголовок">
            <a:extLst>
              <a:ext uri="{FF2B5EF4-FFF2-40B4-BE49-F238E27FC236}">
                <a16:creationId xmlns:a16="http://schemas.microsoft.com/office/drawing/2014/main" id="{3749FE94-FC7C-4359-A56E-6C7A87BD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66" y="503854"/>
            <a:ext cx="10235682" cy="1063690"/>
          </a:xfrm>
        </p:spPr>
        <p:txBody>
          <a:bodyPr rtlCol="0"/>
          <a:lstStyle/>
          <a:p>
            <a:pPr rtl="0"/>
            <a:r>
              <a:rPr lang="ru-RU" dirty="0"/>
              <a:t>Как работает нейронная сеть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94D066-0073-2AF8-61C2-999C89FF0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317" y="1918150"/>
            <a:ext cx="9287870" cy="443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1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A9E34-F872-B783-03B7-9FBFA0F1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Цвет электрик, Красочность, синий, свет&#10;&#10;Автоматически созданное описание">
            <a:extLst>
              <a:ext uri="{FF2B5EF4-FFF2-40B4-BE49-F238E27FC236}">
                <a16:creationId xmlns:a16="http://schemas.microsoft.com/office/drawing/2014/main" id="{D2C20485-3647-F784-D3C0-3D24D4DA4F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8034" r="28034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358B99F-B506-281E-9137-68A8F7836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6D991177-1644-882F-5613-1CE169BA1A4E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532E97B3-0220-1633-CBE7-97372960CFF0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F078BCA7-E667-3C47-9C8D-52D044D3C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D712AE6-563B-E820-74CB-AB14A317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0F2E393D-9484-4E37-1CD1-FA578DC68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6B173A84-4AE4-366C-82A0-AB0E1A0CA0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6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D782C4F6-14E5-803B-FD23-5C3336002E99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tx1"/>
                </a:solidFill>
              </a:rPr>
              <a:t>Как работает нейронная сеть</a:t>
            </a:r>
            <a:endParaRPr lang="ru-RU" dirty="0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E8F345FF-F32D-4022-908D-3D4770873FE7}"/>
              </a:ext>
            </a:extLst>
          </p:cNvPr>
          <p:cNvSpPr txBox="1">
            <a:spLocks/>
          </p:cNvSpPr>
          <p:nvPr/>
        </p:nvSpPr>
        <p:spPr>
          <a:xfrm>
            <a:off x="699407" y="1521355"/>
            <a:ext cx="7315200" cy="1461613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b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1. Прохождение сигнала через слои нейронов.</a:t>
            </a:r>
            <a:endParaRPr lang="ru-RU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spcBef>
                <a:spcPts val="900"/>
              </a:spcBef>
              <a:spcAft>
                <a:spcPts val="900"/>
              </a:spcAft>
            </a:pPr>
            <a:r>
              <a:rPr lang="ru-RU" sz="1800">
                <a:solidFill>
                  <a:srgbClr val="000000"/>
                </a:solidFill>
                <a:latin typeface="Roboto" panose="02000000000000000000" pitchFamily="2" charset="0"/>
                <a:ea typeface="Times New Roman" panose="02020603050405020304" pitchFamily="18" charset="0"/>
              </a:rPr>
              <a:t>На этом этапе данные поступают на вход системы и проходят через все слои. Каждый слой обрабатывает информацию по-разному, выделяя определенные признаки или структуры.</a:t>
            </a:r>
            <a:endParaRPr lang="ru-RU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94B29DF-6577-E878-3144-D3624C491C35}"/>
              </a:ext>
            </a:extLst>
          </p:cNvPr>
          <p:cNvSpPr txBox="1">
            <a:spLocks/>
          </p:cNvSpPr>
          <p:nvPr/>
        </p:nvSpPr>
        <p:spPr>
          <a:xfrm>
            <a:off x="688781" y="2982968"/>
            <a:ext cx="7315200" cy="1461613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2. Обучение и корректировка веса.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На этом этапе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нейронка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«обучается» на основе примеров и корректирует свой вес таким образом, чтобы минимизировать ошибки в предсказании результатов. Для этого используется метод градиентного спуска.</a:t>
            </a:r>
          </a:p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478B053D-6DD4-CABD-C6F2-4A412F988A22}"/>
              </a:ext>
            </a:extLst>
          </p:cNvPr>
          <p:cNvSpPr txBox="1">
            <a:spLocks/>
          </p:cNvSpPr>
          <p:nvPr/>
        </p:nvSpPr>
        <p:spPr>
          <a:xfrm>
            <a:off x="699407" y="4548971"/>
            <a:ext cx="7315200" cy="1461613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3. Выдача результата.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Финальный этап представляет собой получение результата в виде предсказания, классификации, прогноза или рекомендации.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8050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CD43-EBE3-21E3-1A05-1F04A5A4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299886D-FE67-64E8-BABB-80D079AEF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110119" y="0"/>
            <a:ext cx="6874026" cy="6858000"/>
            <a:chOff x="2340861" y="0"/>
            <a:chExt cx="6874026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47C40905-4E60-BA33-CFC3-ED10113D0E67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261D2CD1-3E5B-B35E-0F6C-CCA8EA933525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4" name="Заголовок 3" descr="Название">
            <a:extLst>
              <a:ext uri="{FF2B5EF4-FFF2-40B4-BE49-F238E27FC236}">
                <a16:creationId xmlns:a16="http://schemas.microsoft.com/office/drawing/2014/main" id="{7361A145-158D-16D0-C957-2BF9DF15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5" y="721443"/>
            <a:ext cx="6891564" cy="612621"/>
          </a:xfrm>
        </p:spPr>
        <p:txBody>
          <a:bodyPr rtlCol="0"/>
          <a:lstStyle/>
          <a:p>
            <a:pPr rtl="0"/>
            <a:r>
              <a:rPr lang="ru-RU" dirty="0" err="1"/>
              <a:t>Синапсис</a:t>
            </a:r>
            <a:endParaRPr lang="ru-RU" dirty="0"/>
          </a:p>
        </p:txBody>
      </p:sp>
      <p:sp>
        <p:nvSpPr>
          <p:cNvPr id="23" name="Текст 22" descr="блок контента 1">
            <a:extLst>
              <a:ext uri="{FF2B5EF4-FFF2-40B4-BE49-F238E27FC236}">
                <a16:creationId xmlns:a16="http://schemas.microsoft.com/office/drawing/2014/main" id="{50350D0D-F080-6053-49A9-B0FFD7C890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6428" y="1744864"/>
            <a:ext cx="6038754" cy="3634199"/>
          </a:xfrm>
        </p:spPr>
        <p:txBody>
          <a:bodyPr rtlCol="0"/>
          <a:lstStyle/>
          <a:p>
            <a:pPr rtl="0"/>
            <a:r>
              <a:rPr lang="ru-RU" sz="2000" b="1" dirty="0"/>
              <a:t>Синапс</a:t>
            </a:r>
            <a:r>
              <a:rPr lang="ru-RU" sz="2000" dirty="0"/>
              <a:t> это связь между двумя нейронами. </a:t>
            </a:r>
          </a:p>
          <a:p>
            <a:pPr rtl="0"/>
            <a:r>
              <a:rPr lang="ru-RU" sz="2000" dirty="0"/>
              <a:t>У синапсов есть 1 параметр — </a:t>
            </a:r>
            <a:r>
              <a:rPr lang="ru-RU" sz="2000" b="1" dirty="0"/>
              <a:t>вес</a:t>
            </a:r>
            <a:r>
              <a:rPr lang="ru-RU" sz="2000" dirty="0"/>
              <a:t>. Благодаря ему, входная информация изменяется, когда передается от одного нейрона к другому. </a:t>
            </a:r>
          </a:p>
          <a:p>
            <a:pPr rtl="0"/>
            <a:r>
              <a:rPr lang="ru-RU" sz="2000" dirty="0"/>
              <a:t>Допустим, есть 3 нейрона, которые передают информацию следующему. Тогда у нас есть 3 веса, соответствующие каждому из этих нейронов. У того нейрона, у которого вес будет больше, та информация и будет доминирующей в следующем нейроне (пример — смешение цветов). </a:t>
            </a:r>
          </a:p>
          <a:p>
            <a:pPr rtl="0"/>
            <a:r>
              <a:rPr lang="ru-RU" sz="2000" dirty="0"/>
              <a:t>На самом деле, совокупность весов нейронной сети или матрица весов — это своеобразный мозг всей системы. Именно благодаря этим весам, входная информация обрабатывается и превращается в результат.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816DE05-6148-AC50-0AF3-5F8967780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1727CF9-7EA2-3E04-05B6-22E987566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44" name="Номер слайда 5" descr="Номер слайда">
            <a:extLst>
              <a:ext uri="{FF2B5EF4-FFF2-40B4-BE49-F238E27FC236}">
                <a16:creationId xmlns:a16="http://schemas.microsoft.com/office/drawing/2014/main" id="{AF2D56C7-4C30-D2EF-E32F-296C4C21ED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7</a:t>
            </a:fld>
            <a:endParaRPr lang="ru-RU" sz="120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385FAD-0FA7-326D-0D9C-6F23867D05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9" b="2869"/>
          <a:stretch>
            <a:fillRect/>
          </a:stretch>
        </p:blipFill>
        <p:spPr bwMode="auto">
          <a:xfrm>
            <a:off x="6732420" y="1384143"/>
            <a:ext cx="4448058" cy="41928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3738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B18AC-E402-B77B-4673-85CF4E35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 descr="Название">
            <a:extLst>
              <a:ext uri="{FF2B5EF4-FFF2-40B4-BE49-F238E27FC236}">
                <a16:creationId xmlns:a16="http://schemas.microsoft.com/office/drawing/2014/main" id="{ECB5E471-FF77-524F-62ED-303C08AC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71522"/>
            <a:ext cx="6891564" cy="612621"/>
          </a:xfrm>
        </p:spPr>
        <p:txBody>
          <a:bodyPr rtlCol="0"/>
          <a:lstStyle/>
          <a:p>
            <a:pPr rtl="0"/>
            <a:r>
              <a:rPr lang="ru-RU" dirty="0"/>
              <a:t>Нейронная сеть </a:t>
            </a:r>
          </a:p>
        </p:txBody>
      </p:sp>
      <p:sp>
        <p:nvSpPr>
          <p:cNvPr id="23" name="Текст 22" descr="блок контента 1">
            <a:extLst>
              <a:ext uri="{FF2B5EF4-FFF2-40B4-BE49-F238E27FC236}">
                <a16:creationId xmlns:a16="http://schemas.microsoft.com/office/drawing/2014/main" id="{4F3CE803-38D4-459A-BB7D-BFB97F5ACB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393" y="1653424"/>
            <a:ext cx="6527542" cy="4290176"/>
          </a:xfrm>
        </p:spPr>
        <p:txBody>
          <a:bodyPr rtlCol="0"/>
          <a:lstStyle/>
          <a:p>
            <a:pPr rtl="0"/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данном примере изображена часть нейронной сети, где буквами I обозначены входные нейроны, буквой H — скрытый нейрон, а буквой w — веса. </a:t>
            </a:r>
          </a:p>
          <a:p>
            <a:pPr rtl="0"/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Из формулы видно, что входная информация — это сумма всех входных данных, умноженных на соответствующие им веса. Тогда дадим на вход 1 и 0. Пусть w1=0.4 и w2 = 0.7 Входные данные нейрона Н1 будут следующими: 1*0.4+0*0.7=0.4. Теперь когда у нас есть входные данные, можем получить выходные данные, подставив входное значение в функцию активации. Выходные данные передаем дальше. И так, повторяем для всех слоев, пока не дойдем до выходного нейрона. </a:t>
            </a:r>
          </a:p>
          <a:p>
            <a:pPr rtl="0"/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Запустив такую сеть в первый раз можно увидеть, что ответ далек от правильно, потому что сеть не натренирована. Чтобы улучшить результаты будем ее тренировать. 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BAC9517-AD66-BD40-CF96-2E263C5D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74E105F9-F78A-92BB-6D78-BAEA36D2F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44" name="Номер слайда 5" descr="Номер слайда">
            <a:extLst>
              <a:ext uri="{FF2B5EF4-FFF2-40B4-BE49-F238E27FC236}">
                <a16:creationId xmlns:a16="http://schemas.microsoft.com/office/drawing/2014/main" id="{2B0781BF-B9D9-C898-D41A-9C54462C53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8</a:t>
            </a:fld>
            <a:endParaRPr lang="ru-RU" sz="120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8F17AA-6D58-066E-A7E8-1BA9DD0C2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796" y="1525270"/>
            <a:ext cx="3807460" cy="38074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645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7FAE-1345-AB28-E5DF-65C0EB3B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Крупный план страниц книги">
            <a:extLst>
              <a:ext uri="{FF2B5EF4-FFF2-40B4-BE49-F238E27FC236}">
                <a16:creationId xmlns:a16="http://schemas.microsoft.com/office/drawing/2014/main" id="{CA23703F-087E-AC9F-75C3-0DCCE6AA83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920DE2BE-9930-7223-863D-3136916F8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4750604" cy="6858000"/>
            <a:chOff x="0" y="0"/>
            <a:chExt cx="4750604" cy="6858000"/>
          </a:xfrm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A1FB4EEB-3FC1-61BB-1DB3-418D79232B5F}"/>
                </a:ext>
              </a:extLst>
            </p:cNvPr>
            <p:cNvSpPr/>
            <p:nvPr/>
          </p:nvSpPr>
          <p:spPr>
            <a:xfrm>
              <a:off x="0" y="0"/>
              <a:ext cx="4750604" cy="6858000"/>
            </a:xfrm>
            <a:custGeom>
              <a:avLst/>
              <a:gdLst>
                <a:gd name="connsiteX0" fmla="*/ 0 w 4750604"/>
                <a:gd name="connsiteY0" fmla="*/ 0 h 6858000"/>
                <a:gd name="connsiteX1" fmla="*/ 4750604 w 4750604"/>
                <a:gd name="connsiteY1" fmla="*/ 0 h 6858000"/>
                <a:gd name="connsiteX2" fmla="*/ 3101407 w 4750604"/>
                <a:gd name="connsiteY2" fmla="*/ 6858000 h 6858000"/>
                <a:gd name="connsiteX3" fmla="*/ 0 w 4750604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50604" h="6858000">
                  <a:moveTo>
                    <a:pt x="0" y="0"/>
                  </a:moveTo>
                  <a:lnTo>
                    <a:pt x="4750604" y="0"/>
                  </a:lnTo>
                  <a:lnTo>
                    <a:pt x="310140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1F29E59E-15B9-F96F-2110-DD8842A243F1}"/>
                </a:ext>
              </a:extLst>
            </p:cNvPr>
            <p:cNvSpPr/>
            <p:nvPr/>
          </p:nvSpPr>
          <p:spPr>
            <a:xfrm>
              <a:off x="1" y="0"/>
              <a:ext cx="3946799" cy="6858000"/>
            </a:xfrm>
            <a:custGeom>
              <a:avLst/>
              <a:gdLst>
                <a:gd name="connsiteX0" fmla="*/ 0 w 3946799"/>
                <a:gd name="connsiteY0" fmla="*/ 0 h 6858000"/>
                <a:gd name="connsiteX1" fmla="*/ 3946799 w 3946799"/>
                <a:gd name="connsiteY1" fmla="*/ 0 h 6858000"/>
                <a:gd name="connsiteX2" fmla="*/ 2297602 w 3946799"/>
                <a:gd name="connsiteY2" fmla="*/ 6858000 h 6858000"/>
                <a:gd name="connsiteX3" fmla="*/ 0 w 394679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46799" h="6858000">
                  <a:moveTo>
                    <a:pt x="0" y="0"/>
                  </a:moveTo>
                  <a:lnTo>
                    <a:pt x="3946799" y="0"/>
                  </a:lnTo>
                  <a:lnTo>
                    <a:pt x="229760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3410DCFB-DC9E-8A5D-4140-3692797A4F04}"/>
                </a:ext>
              </a:extLst>
            </p:cNvPr>
            <p:cNvSpPr/>
            <p:nvPr/>
          </p:nvSpPr>
          <p:spPr>
            <a:xfrm>
              <a:off x="0" y="0"/>
              <a:ext cx="3723822" cy="6858000"/>
            </a:xfrm>
            <a:custGeom>
              <a:avLst/>
              <a:gdLst>
                <a:gd name="connsiteX0" fmla="*/ 0 w 3723822"/>
                <a:gd name="connsiteY0" fmla="*/ 0 h 6858000"/>
                <a:gd name="connsiteX1" fmla="*/ 3723822 w 3723822"/>
                <a:gd name="connsiteY1" fmla="*/ 0 h 6858000"/>
                <a:gd name="connsiteX2" fmla="*/ 2074625 w 3723822"/>
                <a:gd name="connsiteY2" fmla="*/ 6858000 h 6858000"/>
                <a:gd name="connsiteX3" fmla="*/ 0 w 372382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3822" h="6858000">
                  <a:moveTo>
                    <a:pt x="0" y="0"/>
                  </a:moveTo>
                  <a:lnTo>
                    <a:pt x="3723822" y="0"/>
                  </a:lnTo>
                  <a:lnTo>
                    <a:pt x="207462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91CF4CC-1B4C-782E-1EF2-293061872847}"/>
                </a:ext>
              </a:extLst>
            </p:cNvPr>
            <p:cNvSpPr/>
            <p:nvPr/>
          </p:nvSpPr>
          <p:spPr>
            <a:xfrm>
              <a:off x="0" y="0"/>
              <a:ext cx="3374007" cy="6858000"/>
            </a:xfrm>
            <a:custGeom>
              <a:avLst/>
              <a:gdLst>
                <a:gd name="connsiteX0" fmla="*/ 0 w 3374007"/>
                <a:gd name="connsiteY0" fmla="*/ 0 h 6858000"/>
                <a:gd name="connsiteX1" fmla="*/ 3374007 w 3374007"/>
                <a:gd name="connsiteY1" fmla="*/ 0 h 6858000"/>
                <a:gd name="connsiteX2" fmla="*/ 1659507 w 3374007"/>
                <a:gd name="connsiteY2" fmla="*/ 6858000 h 6858000"/>
                <a:gd name="connsiteX3" fmla="*/ 0 w 337400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4007" h="6858000">
                  <a:moveTo>
                    <a:pt x="0" y="0"/>
                  </a:moveTo>
                  <a:lnTo>
                    <a:pt x="3374007" y="0"/>
                  </a:lnTo>
                  <a:lnTo>
                    <a:pt x="165950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/>
            </a:p>
          </p:txBody>
        </p:sp>
      </p:grpSp>
      <p:sp>
        <p:nvSpPr>
          <p:cNvPr id="34" name="Заголовок 33" descr="заголовок">
            <a:extLst>
              <a:ext uri="{FF2B5EF4-FFF2-40B4-BE49-F238E27FC236}">
                <a16:creationId xmlns:a16="http://schemas.microsoft.com/office/drawing/2014/main" id="{2ED66FF9-BB81-8DCC-BB99-CA1B18DD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Функция активации</a:t>
            </a:r>
          </a:p>
        </p:txBody>
      </p:sp>
    </p:spTree>
    <p:extLst>
      <p:ext uri="{BB962C8B-B14F-4D97-AF65-F5344CB8AC3E}">
        <p14:creationId xmlns:p14="http://schemas.microsoft.com/office/powerpoint/2010/main" val="216453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07BE4-D188-1A21-CEBC-DE6A3FB6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D31DD5D-1FF3-1E4B-7AE0-C7E548FE9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75454"/>
            <a:ext cx="5374400" cy="3993534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активации </a:t>
            </a:r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это способ нормализации входных данных. То есть, если на входе будет большое число, пропустив его через функцию активации, можно получить выход в нужном диапазоне. Функций активации достаточно много. Главные их отличия — это диапазон значений.</a:t>
            </a:r>
            <a:b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Линейная функция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Эта функция почти никогда не используется, за исключением случаев, когда нужно протестировать нейронную сеть или передать значение без преобразований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1561E7-8D15-45DB-32DF-87F1AF00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38335"/>
          </a:xfrm>
        </p:spPr>
        <p:txBody>
          <a:bodyPr/>
          <a:lstStyle/>
          <a:p>
            <a:r>
              <a:rPr lang="ru-RU" dirty="0"/>
              <a:t>Линейная функция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07BA53-8BE4-0ECB-EE89-866D53DE9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7" y="1385311"/>
            <a:ext cx="3807460" cy="38074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716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D237-C2E7-78DE-EFCF-D0A7A010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6406A2B-3E6E-FCDD-D67E-D49F974C3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75454"/>
            <a:ext cx="5374400" cy="210871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Это самая распространенная функция активации, ее диапазон значений [0,1]. Именно на ней показано большинство примеров в сети, также ее иногда называют логистической функцией.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BEE6F94-2F2E-E6F5-9FAB-3E8AA430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38335"/>
          </a:xfrm>
        </p:spPr>
        <p:txBody>
          <a:bodyPr/>
          <a:lstStyle/>
          <a:p>
            <a:r>
              <a:rPr lang="ru-RU" dirty="0" err="1"/>
              <a:t>Сигмоид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4748E8-7038-B570-FBDE-808AF6B8A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883" y="1219835"/>
            <a:ext cx="4418329" cy="44183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027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20E7-9251-4BF2-9994-21CB0AF7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DADB8D6-6AA0-F68D-06DC-6C9C76B62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75454"/>
            <a:ext cx="5374400" cy="399353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Имеет смысл использовать гиперболический тангенс, только тогда, когда значения могут быть и отрицательными, и положительными, так как диапазон функции [-1,1].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Использовать эту функцию только с положительными значениями нецелесообразно так как это значительно ухудшит результаты нейросети.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1F77B9-127B-74F6-AF03-7A99A514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38335"/>
          </a:xfrm>
        </p:spPr>
        <p:txBody>
          <a:bodyPr/>
          <a:lstStyle/>
          <a:p>
            <a:r>
              <a:rPr lang="ru-RU" dirty="0"/>
              <a:t>Гиперболический тангенс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B290AF-16E3-D5A7-9BAE-B87F53CEF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752" y="1431964"/>
            <a:ext cx="3807460" cy="38074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548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6CC92-C79C-D370-249B-DC21FBAC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Цвет электрик, Красочность, синий, свет&#10;&#10;Автоматически созданное описание">
            <a:extLst>
              <a:ext uri="{FF2B5EF4-FFF2-40B4-BE49-F238E27FC236}">
                <a16:creationId xmlns:a16="http://schemas.microsoft.com/office/drawing/2014/main" id="{140A2262-6498-6C16-3ED8-A517BCCCFA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8034" r="28034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1752B482-B0AA-F0BF-EE8B-9FE3626C9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F832DA72-4201-73F8-8BEE-9DEF21FA6B73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D1727123-1B78-8DBF-8C15-BAA990958EE7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203BF6A6-A191-FB0C-236B-080F4BEB8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9698D45-08C9-57FA-2E58-97404238B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C0E3E26-8548-4E35-8A15-3AE4F7D10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4DB8CB54-D6F9-C74F-C56E-3AB70CA03E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13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F5A9015D-7F05-0873-D34A-BE86698E3726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tx1"/>
                </a:solidFill>
              </a:rPr>
              <a:t>Основные определения и термины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50E8FA-6CF4-DC1B-35DE-7A318A834B8F}"/>
              </a:ext>
            </a:extLst>
          </p:cNvPr>
          <p:cNvSpPr txBox="1">
            <a:spLocks/>
          </p:cNvSpPr>
          <p:nvPr/>
        </p:nvSpPr>
        <p:spPr>
          <a:xfrm>
            <a:off x="699407" y="1521356"/>
            <a:ext cx="7315200" cy="904604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b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Тренировочный сет — </a:t>
            </a:r>
            <a:r>
              <a:rPr lang="ru-RU" sz="180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это последовательность данных, которыми оперирует нейронная сеть. </a:t>
            </a:r>
            <a:endParaRPr lang="ru-RU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E3FE2B79-76A8-60E2-76D9-B0E1F45982A2}"/>
              </a:ext>
            </a:extLst>
          </p:cNvPr>
          <p:cNvSpPr txBox="1">
            <a:spLocks/>
          </p:cNvSpPr>
          <p:nvPr/>
        </p:nvSpPr>
        <p:spPr>
          <a:xfrm>
            <a:off x="699407" y="2592375"/>
            <a:ext cx="7315200" cy="1150493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Итерация - э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то своеобразный счетчик, который увеличивается каждый раз, когда нейронная сеть проходит один тренировочный сет. Другими словами, это общее количество тренировочных сетов пройденных нейронной сетью.</a:t>
            </a:r>
          </a:p>
          <a:p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1582FE9-C27E-2835-3B51-EFD1B1C5C119}"/>
              </a:ext>
            </a:extLst>
          </p:cNvPr>
          <p:cNvSpPr txBox="1">
            <a:spLocks/>
          </p:cNvSpPr>
          <p:nvPr/>
        </p:nvSpPr>
        <p:spPr>
          <a:xfrm>
            <a:off x="693102" y="4080133"/>
            <a:ext cx="7315200" cy="1461613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Эпоха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При инициализации нейронной сети эта величина устанавливается в 0 и имеет потолок, задаваемый вручную. Чем больше эпоха, тем лучше натренирована сеть и соответственно, ее результат. Эпоха увеличивается каждый раз, когда мы проходим весь набор тренировочных сетов.</a:t>
            </a:r>
          </a:p>
          <a:p>
            <a:pPr marL="0" indent="0" fontAlgn="base">
              <a:buFont typeface="Arial" panose="020B0604020202020204" pitchFamily="34" charset="0"/>
              <a:buNone/>
            </a:pPr>
            <a:endParaRPr lang="ru-RU" sz="1800" dirty="0">
              <a:solidFill>
                <a:srgbClr val="000000"/>
              </a:solidFill>
              <a:latin typeface="inherit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4948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AC2A-4E7E-A83A-AB51-F2F0B876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Цвет электрик, Красочность, синий, свет&#10;&#10;Автоматически созданное описание">
            <a:extLst>
              <a:ext uri="{FF2B5EF4-FFF2-40B4-BE49-F238E27FC236}">
                <a16:creationId xmlns:a16="http://schemas.microsoft.com/office/drawing/2014/main" id="{C022139F-8A69-6A19-ECEF-62D349A635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8034" r="28034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08DB495-F60B-C603-2EDB-84DE4414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BAAD9797-F8DC-1BD7-5EA3-EAB20B6423DE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01D531BA-4463-A005-B992-042685017A75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4CCB906A-B66F-B111-D1C0-AC267A780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592FC0C-E231-7B6D-4821-19406719A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21A50B8-4C9A-F433-FA54-66B8E3FC2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7ADEB8D2-E9B7-ADD3-6270-17C294C209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14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D99DDA61-73AB-A7AF-E956-0BD5D6026B2B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tx1"/>
                </a:solidFill>
              </a:rPr>
              <a:t>Основные определения и термины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51A3F5-1D42-7D41-BDC4-F3FAA00D65DE}"/>
              </a:ext>
            </a:extLst>
          </p:cNvPr>
          <p:cNvSpPr txBox="1">
            <a:spLocks/>
          </p:cNvSpPr>
          <p:nvPr/>
        </p:nvSpPr>
        <p:spPr>
          <a:xfrm>
            <a:off x="699407" y="1521355"/>
            <a:ext cx="7315200" cy="3862407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Ошибка — 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это процентная величина, отражающая расхождение между ожидаемым и полученным ответами. Ошибка формируется каждую эпоху и должна идти на спад. Если этого не происходит, значит, что-то делаете не так. 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Ошибку можно вычислить разными путями, но мы рассмотрим лишь три основных способа: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Mean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Squared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Error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(далее MSE),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Root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MSE и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Arctan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. Каждый метод считает ошибки по разному. У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Arctan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, ошибка, почти всегда, будет больше, так как он работает по принципу: чем больше разница, тем больше ошибка. У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Root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MSE будет наименьшая ошибка, поэтому, чаще всего, используют MSE, которая сохраняет баланс в вычислении ошибки.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inherit"/>
              </a:rPr>
              <a:t>За каждый сет, считаем ошибку, отняв от идеального ответа, полученный. Далее, либо возводим в квадрат, либо вычисляем квадратный тангенс из этой разности, после чего полученное число делим на количество сетов.</a:t>
            </a:r>
          </a:p>
        </p:txBody>
      </p:sp>
    </p:spTree>
    <p:extLst>
      <p:ext uri="{BB962C8B-B14F-4D97-AF65-F5344CB8AC3E}">
        <p14:creationId xmlns:p14="http://schemas.microsoft.com/office/powerpoint/2010/main" val="134190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8AC2-212B-F196-971A-05824E26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Цвет электрик, Красочность, синий, свет&#10;&#10;Автоматически созданное описание">
            <a:extLst>
              <a:ext uri="{FF2B5EF4-FFF2-40B4-BE49-F238E27FC236}">
                <a16:creationId xmlns:a16="http://schemas.microsoft.com/office/drawing/2014/main" id="{71C6EEDC-110F-9684-BDF6-0B004B09DD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8034" r="28034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7A5C6C98-E9DC-4D70-EA7C-DBC9A98CA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8085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C8CDCAB5-B05F-D184-7E4B-784FB8413FE1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62408988-2226-973E-6994-62BCB7902086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E3BBB2EF-32E1-CB1D-4148-C34DEF6E2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E5643FD-EB85-214B-50F4-E7AEE8F45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2128315-D425-8EAB-A80F-D4AFE4F8A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D55D623E-513E-2AA5-025C-FE63464C87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15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BCB4DFB7-A91F-3A88-E9B9-170032E51062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tx1"/>
                </a:solidFill>
              </a:rPr>
              <a:t>Основные определения и термины</a:t>
            </a:r>
            <a:endParaRPr lang="ru-RU" sz="2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1F7144-14E8-96B3-12D4-24DD1B941DFC}"/>
              </a:ext>
            </a:extLst>
          </p:cNvPr>
          <p:cNvSpPr txBox="1">
            <a:spLocks/>
          </p:cNvSpPr>
          <p:nvPr/>
        </p:nvSpPr>
        <p:spPr>
          <a:xfrm>
            <a:off x="699407" y="1521356"/>
            <a:ext cx="7315200" cy="393286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MSE</a:t>
            </a:r>
            <a:endParaRPr lang="ru-RU" dirty="0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04D1FA82-7C64-ACA6-3F32-91C69F89D684}"/>
              </a:ext>
            </a:extLst>
          </p:cNvPr>
          <p:cNvSpPr txBox="1">
            <a:spLocks/>
          </p:cNvSpPr>
          <p:nvPr/>
        </p:nvSpPr>
        <p:spPr>
          <a:xfrm>
            <a:off x="672176" y="3043799"/>
            <a:ext cx="7315200" cy="393286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b="1" dirty="0" err="1">
                <a:solidFill>
                  <a:srgbClr val="000000"/>
                </a:solidFill>
                <a:latin typeface="inherit"/>
              </a:rPr>
              <a:t>Root</a:t>
            </a:r>
            <a:r>
              <a:rPr lang="ru-RU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1800" b="1" dirty="0">
                <a:solidFill>
                  <a:srgbClr val="000000"/>
                </a:solidFill>
                <a:latin typeface="inherit"/>
              </a:rPr>
              <a:t>MSE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3964A-1113-9477-4116-3DFCAE7B2B97}"/>
              </a:ext>
            </a:extLst>
          </p:cNvPr>
          <p:cNvSpPr txBox="1"/>
          <p:nvPr/>
        </p:nvSpPr>
        <p:spPr>
          <a:xfrm>
            <a:off x="588197" y="438752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Arctan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BED4EF8-7110-66B9-F1FD-62D176CE2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207" y="1216050"/>
            <a:ext cx="2597306" cy="1298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6ED035-D4D5-23CE-D6B8-575C80469D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893" y="2546721"/>
            <a:ext cx="2727934" cy="136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75EBA14-DBFD-C3F7-BBB7-CBBD48AA8C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893" y="3910688"/>
            <a:ext cx="3175804" cy="1587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6165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72BA-3DEA-21A8-ACC9-9C42BDDF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Цвет электрик, Красочность, синий, свет&#10;&#10;Автоматически созданное описание">
            <a:extLst>
              <a:ext uri="{FF2B5EF4-FFF2-40B4-BE49-F238E27FC236}">
                <a16:creationId xmlns:a16="http://schemas.microsoft.com/office/drawing/2014/main" id="{6AA20E1B-6E9A-9F95-BE26-BD4E6AAF4A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8034" r="28034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346DE8A-D4E1-47CE-F991-88D7447D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A5587656-833D-91B9-00B9-DD05D0259D7A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492C9E61-D26B-CE54-D44D-911D4984488B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1EBEE688-2551-B4D6-852D-524A31456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9265A30-C3A3-A83C-37B6-F94B6EC69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5CDA57A-5AC6-37E1-B506-131ABC1B8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EAB564A1-50A5-35FC-1ACA-AA076091AA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16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B5C9F569-D8C8-1D85-80BB-3B150A60C032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tx1"/>
                </a:solidFill>
              </a:rPr>
              <a:t>Преимущества и недостатки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D433B-36A7-EDB5-7878-712203DEEFEC}"/>
              </a:ext>
            </a:extLst>
          </p:cNvPr>
          <p:cNvSpPr txBox="1">
            <a:spLocks/>
          </p:cNvSpPr>
          <p:nvPr/>
        </p:nvSpPr>
        <p:spPr>
          <a:xfrm>
            <a:off x="699407" y="1521356"/>
            <a:ext cx="7315200" cy="360115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Преимущества: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Нейронные сети могут обрабатывать большие объемы данных и тем самым предоставлять подробную информацию о том, или ином явлении;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Создание и обучение не требует знания специфических физических или математических закономерностей, что делает их доступными для широкого круга специалистов;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</a:t>
            </a:r>
            <a:r>
              <a:rPr lang="ru-RU" sz="1800" dirty="0" err="1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Нейронка</a:t>
            </a:r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 способна обрабатывать информацию в режиме реального времени – это полезно в случаях, когда требуется оперативное решение;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Они могут обучаться на существующих данных и делать точные предсказания в автоматическом режиме, что значительно увеличивает эффективность работы в различных предметных областях.</a:t>
            </a:r>
          </a:p>
        </p:txBody>
      </p:sp>
    </p:spTree>
    <p:extLst>
      <p:ext uri="{BB962C8B-B14F-4D97-AF65-F5344CB8AC3E}">
        <p14:creationId xmlns:p14="http://schemas.microsoft.com/office/powerpoint/2010/main" val="635088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1D63-9B16-B374-87A9-16AF6D65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 descr="Изображение выглядит как Цвет электрик, Красочность, синий, свет&#10;&#10;Автоматически созданное описание">
            <a:extLst>
              <a:ext uri="{FF2B5EF4-FFF2-40B4-BE49-F238E27FC236}">
                <a16:creationId xmlns:a16="http://schemas.microsoft.com/office/drawing/2014/main" id="{84119131-20DC-5A5B-2C3B-7A0BDDD74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8034" r="28034"/>
          <a:stretch>
            <a:fillRect/>
          </a:stretch>
        </p:blipFill>
        <p:spPr/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BE611FC-41C2-4160-16DC-E7782B392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5847" y="0"/>
            <a:ext cx="7388298" cy="6858000"/>
            <a:chOff x="1826589" y="0"/>
            <a:chExt cx="7388298" cy="6858000"/>
          </a:xfrm>
        </p:grpSpPr>
        <p:sp>
          <p:nvSpPr>
            <p:cNvPr id="10" name="Параллелограмм 9">
              <a:extLst>
                <a:ext uri="{FF2B5EF4-FFF2-40B4-BE49-F238E27FC236}">
                  <a16:creationId xmlns:a16="http://schemas.microsoft.com/office/drawing/2014/main" id="{5ADA0C01-5A4F-8037-AC4B-4C1B814FE7FD}"/>
                </a:ext>
              </a:extLst>
            </p:cNvPr>
            <p:cNvSpPr/>
            <p:nvPr/>
          </p:nvSpPr>
          <p:spPr>
            <a:xfrm>
              <a:off x="2618099" y="0"/>
              <a:ext cx="6596788" cy="6858000"/>
            </a:xfrm>
            <a:prstGeom prst="parallelogram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9" name="Параллелограмм 8">
              <a:extLst>
                <a:ext uri="{FF2B5EF4-FFF2-40B4-BE49-F238E27FC236}">
                  <a16:creationId xmlns:a16="http://schemas.microsoft.com/office/drawing/2014/main" id="{77BB04CC-395C-263B-296D-8B17D131A9F4}"/>
                </a:ext>
              </a:extLst>
            </p:cNvPr>
            <p:cNvSpPr/>
            <p:nvPr/>
          </p:nvSpPr>
          <p:spPr>
            <a:xfrm>
              <a:off x="2340861" y="0"/>
              <a:ext cx="6596788" cy="6858000"/>
            </a:xfrm>
            <a:prstGeom prst="parallelogram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22" name="Параллелограмм 21">
              <a:extLst>
                <a:ext uri="{FF2B5EF4-FFF2-40B4-BE49-F238E27FC236}">
                  <a16:creationId xmlns:a16="http://schemas.microsoft.com/office/drawing/2014/main" id="{E623E01E-A4B2-40AE-7EE2-7D09AF78F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26589" y="0"/>
              <a:ext cx="6596788" cy="6858000"/>
            </a:xfrm>
            <a:prstGeom prst="parallelogram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A83830-2B00-3715-3141-DFB51B90C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EB79162-AE1B-F26E-D031-76FC119B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7" name="Номер слайда 5" descr="Номер слайда">
            <a:extLst>
              <a:ext uri="{FF2B5EF4-FFF2-40B4-BE49-F238E27FC236}">
                <a16:creationId xmlns:a16="http://schemas.microsoft.com/office/drawing/2014/main" id="{16ACA02E-5115-2F44-F7B9-665BE6091D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ru-RU" sz="1200" smtClean="0">
                <a:solidFill>
                  <a:schemeClr val="bg1"/>
                </a:solidFill>
              </a:rPr>
              <a:pPr algn="ctr" rtl="0"/>
              <a:t>17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2" name="Заголовок 3" descr="Название">
            <a:extLst>
              <a:ext uri="{FF2B5EF4-FFF2-40B4-BE49-F238E27FC236}">
                <a16:creationId xmlns:a16="http://schemas.microsoft.com/office/drawing/2014/main" id="{D5F9AF78-4C1B-E8E7-A330-4FF8C35D886A}"/>
              </a:ext>
            </a:extLst>
          </p:cNvPr>
          <p:cNvSpPr txBox="1">
            <a:spLocks/>
          </p:cNvSpPr>
          <p:nvPr/>
        </p:nvSpPr>
        <p:spPr>
          <a:xfrm>
            <a:off x="647700" y="612799"/>
            <a:ext cx="6891564" cy="612621"/>
          </a:xfrm>
          <a:prstGeom prst="rect">
            <a:avLst/>
          </a:prstGeom>
        </p:spPr>
        <p:txBody>
          <a:bodyPr vert="horz" wrap="square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chemeClr val="tx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tx1"/>
                </a:solidFill>
              </a:rPr>
              <a:t>Преимущества и недостатки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2B887B-D6DA-506E-ED48-D7041344FC5A}"/>
              </a:ext>
            </a:extLst>
          </p:cNvPr>
          <p:cNvSpPr txBox="1">
            <a:spLocks/>
          </p:cNvSpPr>
          <p:nvPr/>
        </p:nvSpPr>
        <p:spPr>
          <a:xfrm>
            <a:off x="699407" y="1521356"/>
            <a:ext cx="7315200" cy="4263624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b="1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Недостатки:</a:t>
            </a:r>
          </a:p>
          <a:p>
            <a:pPr algn="just"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Нейросети могут работать только с данными, которые были использованы при их обучении. Если данные меняются, модель может потребовать доработку, приемлемую точность или отказаться от использования данных вовсе;</a:t>
            </a:r>
          </a:p>
          <a:p>
            <a:pPr algn="just"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Создание и обучение занимают много времени и требуют значительных ресурсов, особенно при работе с крупными объемами данных;</a:t>
            </a:r>
          </a:p>
          <a:p>
            <a:pPr algn="just"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Результаты недостаточно точные и могут оказаться чрезмерно сложными для анализа;</a:t>
            </a:r>
          </a:p>
          <a:p>
            <a:pPr algn="just"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Нейронные сети не могут объяснить свои решения, что важно для задач с пояснительным анализом (например, медицинские диагнозы).</a:t>
            </a:r>
          </a:p>
          <a:p>
            <a:pPr algn="just" fontAlgn="base"/>
            <a:r>
              <a:rPr lang="ru-RU" sz="1800" dirty="0">
                <a:solidFill>
                  <a:srgbClr val="000000"/>
                </a:solidFill>
                <a:latin typeface="inherit"/>
                <a:ea typeface="Times New Roman" panose="02020603050405020304" pitchFamily="18" charset="0"/>
              </a:rPr>
              <a:t>— Коррекция ошибок может быть трудной процедурой.</a:t>
            </a:r>
          </a:p>
        </p:txBody>
      </p:sp>
    </p:spTree>
    <p:extLst>
      <p:ext uri="{BB962C8B-B14F-4D97-AF65-F5344CB8AC3E}">
        <p14:creationId xmlns:p14="http://schemas.microsoft.com/office/powerpoint/2010/main" val="7729776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MSFT_04_Educa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2606E"/>
      </a:accent1>
      <a:accent2>
        <a:srgbClr val="0F3955"/>
      </a:accent2>
      <a:accent3>
        <a:srgbClr val="FFC000"/>
      </a:accent3>
      <a:accent4>
        <a:srgbClr val="BF678E"/>
      </a:accent4>
      <a:accent5>
        <a:srgbClr val="731F1C"/>
      </a:accent5>
      <a:accent6>
        <a:srgbClr val="7A9E56"/>
      </a:accent6>
      <a:hlink>
        <a:srgbClr val="00B0F0"/>
      </a:hlink>
      <a:folHlink>
        <a:srgbClr val="595959"/>
      </a:folHlink>
    </a:clrScheme>
    <a:fontScheme name="MSFT_04_Education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154830_TF00475556_Win32" id="{F5446CBF-CD4D-4845-B8C1-BEFBD5F3B152}" vid="{6948B3F1-8288-48D9-870E-50653B82634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Учебная презентация</Template>
  <TotalTime>1899</TotalTime>
  <Words>1159</Words>
  <Application>Microsoft Office PowerPoint</Application>
  <PresentationFormat>Широкоэкранный</PresentationFormat>
  <Paragraphs>88</Paragraphs>
  <Slides>17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Corbel</vt:lpstr>
      <vt:lpstr>inherit</vt:lpstr>
      <vt:lpstr>Roboto</vt:lpstr>
      <vt:lpstr>Times New Roman</vt:lpstr>
      <vt:lpstr>Тема Office</vt:lpstr>
      <vt:lpstr>Нейронные сети</vt:lpstr>
      <vt:lpstr>Нейронная сеть </vt:lpstr>
      <vt:lpstr>Презентация PowerPoint</vt:lpstr>
      <vt:lpstr>Презентация PowerPoint</vt:lpstr>
      <vt:lpstr>Как работает нейронная сеть</vt:lpstr>
      <vt:lpstr>Презентация PowerPoint</vt:lpstr>
      <vt:lpstr>Синапсис</vt:lpstr>
      <vt:lpstr>Нейронная сеть </vt:lpstr>
      <vt:lpstr>Функция активации</vt:lpstr>
      <vt:lpstr>Линейная функция</vt:lpstr>
      <vt:lpstr>Сигмоид</vt:lpstr>
      <vt:lpstr>Гиперболический тангенс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Нейронные сети</dc:title>
  <dc:creator>Резеда Каримова</dc:creator>
  <cp:lastModifiedBy>МОиБД</cp:lastModifiedBy>
  <cp:revision>9</cp:revision>
  <dcterms:created xsi:type="dcterms:W3CDTF">2024-03-10T12:03:20Z</dcterms:created>
  <dcterms:modified xsi:type="dcterms:W3CDTF">2025-10-23T03:41:33Z</dcterms:modified>
</cp:coreProperties>
</file>